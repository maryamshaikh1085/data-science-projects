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Montserrat" panose="00000500000000000000" pitchFamily="2" charset="0"/>
      <p:regular r:id="rId14"/>
    </p:embeddedFont>
    <p:embeddedFont>
      <p:font typeface="Montserrat Bold" panose="00000800000000000000" charset="0"/>
      <p:regular r:id="rId15"/>
    </p:embeddedFont>
    <p:embeddedFont>
      <p:font typeface="Montserrat Ultra-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4" d="100"/>
          <a:sy n="44" d="100"/>
        </p:scale>
        <p:origin x="654" y="1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4.sv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16399" y="5143500"/>
            <a:ext cx="7343202" cy="73432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>
            <a:off x="-795512" y="8581650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950976" y="-2642901"/>
            <a:ext cx="7343202" cy="734320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7" name="Freeform 7"/>
          <p:cNvSpPr/>
          <p:nvPr/>
        </p:nvSpPr>
        <p:spPr>
          <a:xfrm flipV="1">
            <a:off x="-1432830" y="-4332318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36114" y="3924274"/>
            <a:ext cx="12695553" cy="2648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1"/>
              </a:lnSpc>
            </a:pPr>
            <a:r>
              <a:rPr lang="en-US" sz="7501" b="1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STREAMING PLATFORMS DATA ANALYSIS &amp; INSIGHTS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822034" y="-3671601"/>
            <a:ext cx="7343202" cy="734320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836114" y="6734201"/>
            <a:ext cx="5185303" cy="445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3990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By: Maryam Shaikh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52285" y="-1655401"/>
            <a:ext cx="7343202" cy="73432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 flipV="1">
            <a:off x="-1432830" y="-4332318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1559091" y="3358834"/>
            <a:ext cx="3718594" cy="371859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7885" y="0"/>
                  </a:moveTo>
                  <a:lnTo>
                    <a:pt x="764915" y="0"/>
                  </a:lnTo>
                  <a:cubicBezTo>
                    <a:pt x="791361" y="0"/>
                    <a:pt x="812800" y="21439"/>
                    <a:pt x="812800" y="47885"/>
                  </a:cubicBezTo>
                  <a:lnTo>
                    <a:pt x="812800" y="764915"/>
                  </a:lnTo>
                  <a:cubicBezTo>
                    <a:pt x="812800" y="791361"/>
                    <a:pt x="791361" y="812800"/>
                    <a:pt x="764915" y="812800"/>
                  </a:cubicBezTo>
                  <a:lnTo>
                    <a:pt x="47885" y="812800"/>
                  </a:lnTo>
                  <a:cubicBezTo>
                    <a:pt x="21439" y="812800"/>
                    <a:pt x="0" y="791361"/>
                    <a:pt x="0" y="764915"/>
                  </a:cubicBezTo>
                  <a:lnTo>
                    <a:pt x="0" y="47885"/>
                  </a:lnTo>
                  <a:cubicBezTo>
                    <a:pt x="0" y="21439"/>
                    <a:pt x="21439" y="0"/>
                    <a:pt x="47885" y="0"/>
                  </a:cubicBezTo>
                  <a:close/>
                </a:path>
              </a:pathLst>
            </a:custGeom>
            <a:blipFill>
              <a:blip r:embed="rId4"/>
              <a:stretch>
                <a:fillRect l="-72824" t="-18091" r="-70428" b="-1873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-3671601" y="5143500"/>
            <a:ext cx="7343202" cy="734320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017955" y="3358834"/>
            <a:ext cx="3718594" cy="371859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7885" y="0"/>
                  </a:moveTo>
                  <a:lnTo>
                    <a:pt x="764915" y="0"/>
                  </a:lnTo>
                  <a:cubicBezTo>
                    <a:pt x="791361" y="0"/>
                    <a:pt x="812800" y="21439"/>
                    <a:pt x="812800" y="47885"/>
                  </a:cubicBezTo>
                  <a:lnTo>
                    <a:pt x="812800" y="764915"/>
                  </a:lnTo>
                  <a:cubicBezTo>
                    <a:pt x="812800" y="791361"/>
                    <a:pt x="791361" y="812800"/>
                    <a:pt x="764915" y="812800"/>
                  </a:cubicBezTo>
                  <a:lnTo>
                    <a:pt x="47885" y="812800"/>
                  </a:lnTo>
                  <a:cubicBezTo>
                    <a:pt x="21439" y="812800"/>
                    <a:pt x="0" y="791361"/>
                    <a:pt x="0" y="764915"/>
                  </a:cubicBezTo>
                  <a:lnTo>
                    <a:pt x="0" y="47885"/>
                  </a:lnTo>
                  <a:cubicBezTo>
                    <a:pt x="0" y="21439"/>
                    <a:pt x="21439" y="0"/>
                    <a:pt x="47885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7284703" y="3358834"/>
            <a:ext cx="3718594" cy="371859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7885" y="0"/>
                  </a:moveTo>
                  <a:lnTo>
                    <a:pt x="764915" y="0"/>
                  </a:lnTo>
                  <a:cubicBezTo>
                    <a:pt x="791361" y="0"/>
                    <a:pt x="812800" y="21439"/>
                    <a:pt x="812800" y="47885"/>
                  </a:cubicBezTo>
                  <a:lnTo>
                    <a:pt x="812800" y="764915"/>
                  </a:lnTo>
                  <a:cubicBezTo>
                    <a:pt x="812800" y="791361"/>
                    <a:pt x="791361" y="812800"/>
                    <a:pt x="764915" y="812800"/>
                  </a:cubicBezTo>
                  <a:lnTo>
                    <a:pt x="47885" y="812800"/>
                  </a:lnTo>
                  <a:cubicBezTo>
                    <a:pt x="21439" y="812800"/>
                    <a:pt x="0" y="791361"/>
                    <a:pt x="0" y="764915"/>
                  </a:cubicBezTo>
                  <a:lnTo>
                    <a:pt x="0" y="47885"/>
                  </a:lnTo>
                  <a:cubicBezTo>
                    <a:pt x="0" y="21439"/>
                    <a:pt x="21439" y="0"/>
                    <a:pt x="47885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-795512" y="8581650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421167" y="7559491"/>
            <a:ext cx="3994443" cy="41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DISNEY+HOTSTAR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17955" y="7559491"/>
            <a:ext cx="3771924" cy="41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NETFLIX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32802" y="1618935"/>
            <a:ext cx="10222396" cy="132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b="1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DASHBOARDS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95086" y="7559491"/>
            <a:ext cx="3897829" cy="41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AMAZON PRIME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34753" y="4300938"/>
            <a:ext cx="7343202" cy="73432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 flipH="1" flipV="1">
            <a:off x="-1432830" y="-4332318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28415"/>
            <a:ext cx="8177423" cy="132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b="1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OBJECTIVE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650716"/>
            <a:ext cx="11444963" cy="614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1"/>
              </a:lnSpc>
            </a:pPr>
            <a:r>
              <a:rPr lang="en-US" sz="3710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Goal:</a:t>
            </a:r>
          </a:p>
          <a:p>
            <a:pPr algn="l">
              <a:lnSpc>
                <a:spcPts val="4081"/>
              </a:lnSpc>
            </a:pPr>
            <a:r>
              <a:rPr lang="en-US" sz="371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To analyze popular streaming platforms (Netflix, Amazon Prime Video, and Disney+ Hotstar) to understand:</a:t>
            </a:r>
          </a:p>
          <a:p>
            <a:pPr algn="l">
              <a:lnSpc>
                <a:spcPts val="4081"/>
              </a:lnSpc>
            </a:pPr>
            <a:endParaRPr lang="en-US" sz="3710">
              <a:solidFill>
                <a:srgbClr val="0518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01044" lvl="1" indent="-400522" algn="l">
              <a:lnSpc>
                <a:spcPts val="4081"/>
              </a:lnSpc>
              <a:buFont typeface="Arial"/>
              <a:buChar char="•"/>
            </a:pPr>
            <a:r>
              <a:rPr lang="en-US" sz="3710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 distribution by type (Movies/Series)</a:t>
            </a:r>
          </a:p>
          <a:p>
            <a:pPr marL="801044" lvl="1" indent="-400522" algn="l">
              <a:lnSpc>
                <a:spcPts val="4081"/>
              </a:lnSpc>
              <a:buFont typeface="Arial"/>
              <a:buChar char="•"/>
            </a:pPr>
            <a:r>
              <a:rPr lang="en-US" sz="3710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Duration trends</a:t>
            </a:r>
          </a:p>
          <a:p>
            <a:pPr marL="801044" lvl="1" indent="-400522" algn="l">
              <a:lnSpc>
                <a:spcPts val="4081"/>
              </a:lnSpc>
              <a:buFont typeface="Arial"/>
              <a:buChar char="•"/>
            </a:pPr>
            <a:r>
              <a:rPr lang="en-US" sz="3710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Genre preferences</a:t>
            </a:r>
          </a:p>
          <a:p>
            <a:pPr marL="801044" lvl="1" indent="-400522" algn="l">
              <a:lnSpc>
                <a:spcPts val="4081"/>
              </a:lnSpc>
              <a:buFont typeface="Arial"/>
              <a:buChar char="•"/>
            </a:pPr>
            <a:r>
              <a:rPr lang="en-US" sz="3710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Yearly release patterns</a:t>
            </a:r>
          </a:p>
          <a:p>
            <a:pPr marL="801044" lvl="1" indent="-400522" algn="l">
              <a:lnSpc>
                <a:spcPts val="4081"/>
              </a:lnSpc>
              <a:buFont typeface="Arial"/>
              <a:buChar char="•"/>
            </a:pPr>
            <a:r>
              <a:rPr lang="en-US" sz="3710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Ratings and IMDB scores</a:t>
            </a:r>
          </a:p>
          <a:p>
            <a:pPr algn="l">
              <a:lnSpc>
                <a:spcPts val="4081"/>
              </a:lnSpc>
            </a:pPr>
            <a:endParaRPr lang="en-US" sz="3710" b="1">
              <a:solidFill>
                <a:srgbClr val="05183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795512" y="8581650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26108" y="5143500"/>
            <a:ext cx="7343202" cy="73432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 flipH="1" flipV="1">
            <a:off x="-1432830" y="-4488542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8376" y="3186952"/>
            <a:ext cx="11578998" cy="249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3416" lvl="1" indent="-381708" algn="l">
              <a:lnSpc>
                <a:spcPts val="3889"/>
              </a:lnSpc>
              <a:buFont typeface="Arial"/>
              <a:buChar char="•"/>
            </a:pPr>
            <a:r>
              <a:rPr lang="en-US" sz="3535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Removed null and duplicate values</a:t>
            </a:r>
          </a:p>
          <a:p>
            <a:pPr marL="763416" lvl="1" indent="-381708" algn="l">
              <a:lnSpc>
                <a:spcPts val="3889"/>
              </a:lnSpc>
              <a:buFont typeface="Arial"/>
              <a:buChar char="•"/>
            </a:pPr>
            <a:r>
              <a:rPr lang="en-US" sz="3535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NULL:</a:t>
            </a:r>
          </a:p>
          <a:p>
            <a:pPr algn="l">
              <a:lnSpc>
                <a:spcPts val="3889"/>
              </a:lnSpc>
            </a:pPr>
            <a:r>
              <a:rPr lang="en-US" sz="3535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Duration/Genre/Language </a:t>
            </a:r>
          </a:p>
          <a:p>
            <a:pPr algn="l">
              <a:lnSpc>
                <a:spcPts val="3889"/>
              </a:lnSpc>
            </a:pPr>
            <a:endParaRPr lang="en-US" sz="3535" b="1">
              <a:solidFill>
                <a:srgbClr val="05183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4329"/>
              </a:lnSpc>
            </a:pPr>
            <a:r>
              <a:rPr lang="en-US" sz="3935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NETFLIX DATASET</a:t>
            </a:r>
          </a:p>
        </p:txBody>
      </p:sp>
      <p:sp>
        <p:nvSpPr>
          <p:cNvPr id="6" name="Freeform 6"/>
          <p:cNvSpPr/>
          <p:nvPr/>
        </p:nvSpPr>
        <p:spPr>
          <a:xfrm>
            <a:off x="-795512" y="8581650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790361" y="6405831"/>
            <a:ext cx="1690691" cy="909301"/>
            <a:chOff x="0" y="0"/>
            <a:chExt cx="1018458" cy="5477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8458" cy="547755"/>
            </a:xfrm>
            <a:custGeom>
              <a:avLst/>
              <a:gdLst/>
              <a:ahLst/>
              <a:cxnLst/>
              <a:rect l="l" t="t" r="r" b="b"/>
              <a:pathLst>
                <a:path w="1018458" h="547755">
                  <a:moveTo>
                    <a:pt x="1018458" y="273878"/>
                  </a:moveTo>
                  <a:lnTo>
                    <a:pt x="612058" y="0"/>
                  </a:lnTo>
                  <a:lnTo>
                    <a:pt x="612058" y="203200"/>
                  </a:lnTo>
                  <a:lnTo>
                    <a:pt x="0" y="203200"/>
                  </a:lnTo>
                  <a:lnTo>
                    <a:pt x="0" y="344555"/>
                  </a:lnTo>
                  <a:lnTo>
                    <a:pt x="612058" y="344555"/>
                  </a:lnTo>
                  <a:lnTo>
                    <a:pt x="612058" y="547755"/>
                  </a:lnTo>
                  <a:lnTo>
                    <a:pt x="1018458" y="27387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65100"/>
              <a:ext cx="916858" cy="1794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152525"/>
            <a:ext cx="8985864" cy="1678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6"/>
              </a:lnSpc>
            </a:pPr>
            <a:r>
              <a:rPr lang="en-US" sz="6486" b="1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CLEANING &amp; PREPARATION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047984"/>
            <a:ext cx="4124197" cy="164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5"/>
              </a:lnSpc>
            </a:pPr>
            <a:r>
              <a:rPr lang="en-US" sz="5822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BEFORE:</a:t>
            </a:r>
          </a:p>
          <a:p>
            <a:pPr algn="ctr">
              <a:lnSpc>
                <a:spcPts val="6405"/>
              </a:lnSpc>
            </a:pPr>
            <a:r>
              <a:rPr lang="en-US" sz="5822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15481 rows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86240" y="6057509"/>
            <a:ext cx="4548784" cy="166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4"/>
              </a:lnSpc>
            </a:pPr>
            <a:r>
              <a:rPr lang="en-US" sz="5986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AFTER:</a:t>
            </a:r>
          </a:p>
          <a:p>
            <a:pPr algn="ctr">
              <a:lnSpc>
                <a:spcPts val="6584"/>
              </a:lnSpc>
            </a:pPr>
            <a:r>
              <a:rPr lang="en-US" sz="5986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13480 rows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11911" y="6615399"/>
            <a:ext cx="7343202" cy="73432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 flipH="1" flipV="1">
            <a:off x="-1432830" y="-4488542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95512" y="9038564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453309" y="5953925"/>
            <a:ext cx="1690691" cy="909301"/>
            <a:chOff x="0" y="0"/>
            <a:chExt cx="1018458" cy="5477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458" cy="547755"/>
            </a:xfrm>
            <a:custGeom>
              <a:avLst/>
              <a:gdLst/>
              <a:ahLst/>
              <a:cxnLst/>
              <a:rect l="l" t="t" r="r" b="b"/>
              <a:pathLst>
                <a:path w="1018458" h="547755">
                  <a:moveTo>
                    <a:pt x="1018458" y="273878"/>
                  </a:moveTo>
                  <a:lnTo>
                    <a:pt x="612058" y="0"/>
                  </a:lnTo>
                  <a:lnTo>
                    <a:pt x="612058" y="203200"/>
                  </a:lnTo>
                  <a:lnTo>
                    <a:pt x="0" y="203200"/>
                  </a:lnTo>
                  <a:lnTo>
                    <a:pt x="0" y="344555"/>
                  </a:lnTo>
                  <a:lnTo>
                    <a:pt x="612058" y="344555"/>
                  </a:lnTo>
                  <a:lnTo>
                    <a:pt x="612058" y="547755"/>
                  </a:lnTo>
                  <a:lnTo>
                    <a:pt x="1018458" y="27387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65100"/>
              <a:ext cx="916858" cy="1794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80286" y="4464386"/>
            <a:ext cx="5623093" cy="4574177"/>
          </a:xfrm>
          <a:custGeom>
            <a:avLst/>
            <a:gdLst/>
            <a:ahLst/>
            <a:cxnLst/>
            <a:rect l="l" t="t" r="r" b="b"/>
            <a:pathLst>
              <a:path w="5623093" h="4574177">
                <a:moveTo>
                  <a:pt x="0" y="0"/>
                </a:moveTo>
                <a:lnTo>
                  <a:pt x="5623093" y="0"/>
                </a:lnTo>
                <a:lnTo>
                  <a:pt x="5623093" y="4574178"/>
                </a:lnTo>
                <a:lnTo>
                  <a:pt x="0" y="45741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474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696450" y="4497090"/>
            <a:ext cx="6274938" cy="4541473"/>
          </a:xfrm>
          <a:custGeom>
            <a:avLst/>
            <a:gdLst/>
            <a:ahLst/>
            <a:cxnLst/>
            <a:rect l="l" t="t" r="r" b="b"/>
            <a:pathLst>
              <a:path w="6274938" h="4541473">
                <a:moveTo>
                  <a:pt x="0" y="0"/>
                </a:moveTo>
                <a:lnTo>
                  <a:pt x="6274938" y="0"/>
                </a:lnTo>
                <a:lnTo>
                  <a:pt x="6274938" y="4541474"/>
                </a:lnTo>
                <a:lnTo>
                  <a:pt x="0" y="45414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8318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05882" y="2734537"/>
            <a:ext cx="14094853" cy="492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3416" lvl="1" indent="-381708" algn="l">
              <a:lnSpc>
                <a:spcPts val="3889"/>
              </a:lnSpc>
              <a:buFont typeface="Arial"/>
              <a:buChar char="•"/>
            </a:pPr>
            <a:r>
              <a:rPr lang="en-US" sz="3535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Created new columns: </a:t>
            </a:r>
            <a:r>
              <a:rPr lang="en-US" sz="3535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duration_unit and duration_value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808595"/>
            <a:ext cx="8985864" cy="1678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6"/>
              </a:lnSpc>
            </a:pPr>
            <a:r>
              <a:rPr lang="en-US" sz="6486" b="1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CLEANING &amp; PREPARATION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29733" y="3484293"/>
            <a:ext cx="4124197" cy="83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5"/>
              </a:lnSpc>
            </a:pPr>
            <a:r>
              <a:rPr lang="en-US" sz="5822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BEFORE: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94414" y="3451590"/>
            <a:ext cx="4124197" cy="83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5"/>
              </a:lnSpc>
            </a:pPr>
            <a:r>
              <a:rPr lang="en-US" sz="5822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AFTER: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87699" y="4462944"/>
            <a:ext cx="7343202" cy="73432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 flipH="1" flipV="1">
            <a:off x="-1432830" y="-4488542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95512" y="8591300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2"/>
                </a:lnTo>
                <a:lnTo>
                  <a:pt x="0" y="2087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63333" y="5143500"/>
            <a:ext cx="8984922" cy="2185522"/>
          </a:xfrm>
          <a:custGeom>
            <a:avLst/>
            <a:gdLst/>
            <a:ahLst/>
            <a:cxnLst/>
            <a:rect l="l" t="t" r="r" b="b"/>
            <a:pathLst>
              <a:path w="8984922" h="2185522">
                <a:moveTo>
                  <a:pt x="0" y="0"/>
                </a:moveTo>
                <a:lnTo>
                  <a:pt x="8984922" y="0"/>
                </a:lnTo>
                <a:lnTo>
                  <a:pt x="8984922" y="2185522"/>
                </a:lnTo>
                <a:lnTo>
                  <a:pt x="0" y="218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17698" y="3150193"/>
            <a:ext cx="12350403" cy="10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2768" lvl="1" indent="-406384" algn="l">
              <a:lnSpc>
                <a:spcPts val="4141"/>
              </a:lnSpc>
              <a:buFont typeface="Arial"/>
              <a:buChar char="•"/>
            </a:pPr>
            <a:r>
              <a:rPr lang="en-US" sz="3764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Filtered out rows only with valid types</a:t>
            </a:r>
          </a:p>
          <a:p>
            <a:pPr marL="812768" lvl="1" indent="-406384" algn="l">
              <a:lnSpc>
                <a:spcPts val="4141"/>
              </a:lnSpc>
              <a:buFont typeface="Arial"/>
              <a:buChar char="•"/>
            </a:pPr>
            <a:r>
              <a:rPr lang="en-US" sz="3764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Keep rows Only with type = movie or tv show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08595"/>
            <a:ext cx="8985864" cy="1678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6"/>
              </a:lnSpc>
            </a:pPr>
            <a:r>
              <a:rPr lang="en-US" sz="6486" b="1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CLEANING &amp; PREPARATION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26108" y="5143500"/>
            <a:ext cx="7343202" cy="73432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 flipH="1" flipV="1">
            <a:off x="-1432830" y="-4488542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95512" y="8581650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16866" y="2830816"/>
            <a:ext cx="3909242" cy="5472939"/>
          </a:xfrm>
          <a:custGeom>
            <a:avLst/>
            <a:gdLst/>
            <a:ahLst/>
            <a:cxnLst/>
            <a:rect l="l" t="t" r="r" b="b"/>
            <a:pathLst>
              <a:path w="3909242" h="5472939">
                <a:moveTo>
                  <a:pt x="0" y="0"/>
                </a:moveTo>
                <a:lnTo>
                  <a:pt x="3909242" y="0"/>
                </a:lnTo>
                <a:lnTo>
                  <a:pt x="3909242" y="5472939"/>
                </a:lnTo>
                <a:lnTo>
                  <a:pt x="0" y="5472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8376" y="3944709"/>
            <a:ext cx="8038490" cy="2435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3416" lvl="1" indent="-381708" algn="l">
              <a:lnSpc>
                <a:spcPts val="3889"/>
              </a:lnSpc>
              <a:buFont typeface="Arial"/>
              <a:buChar char="•"/>
            </a:pPr>
            <a:r>
              <a:rPr lang="en-US" sz="3535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Set correct data types ex </a:t>
            </a:r>
            <a:r>
              <a:rPr lang="en-US" sz="3535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(date_added → date type)</a:t>
            </a:r>
          </a:p>
          <a:p>
            <a:pPr algn="l">
              <a:lnSpc>
                <a:spcPts val="3889"/>
              </a:lnSpc>
            </a:pPr>
            <a:endParaRPr lang="en-US" sz="3535" b="1">
              <a:solidFill>
                <a:srgbClr val="05183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763416" lvl="1" indent="-381708" algn="l">
              <a:lnSpc>
                <a:spcPts val="3889"/>
              </a:lnSpc>
              <a:buFont typeface="Arial"/>
              <a:buChar char="•"/>
            </a:pPr>
            <a:r>
              <a:rPr lang="en-US" sz="3535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From </a:t>
            </a:r>
            <a:r>
              <a:rPr lang="en-US" sz="3535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date_added</a:t>
            </a:r>
            <a:r>
              <a:rPr lang="en-US" sz="3535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 extract </a:t>
            </a:r>
            <a:r>
              <a:rPr lang="en-US" sz="3535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year_added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152525"/>
            <a:ext cx="8985864" cy="1678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6"/>
              </a:lnSpc>
            </a:pPr>
            <a:r>
              <a:rPr lang="en-US" sz="6486" b="1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CLEANING &amp; PREPARATION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99023" y="5586699"/>
            <a:ext cx="7343202" cy="73432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 flipH="1" flipV="1">
            <a:off x="-1432830" y="-4488542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95512" y="9465465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367874" y="6573555"/>
            <a:ext cx="1690691" cy="909301"/>
            <a:chOff x="0" y="0"/>
            <a:chExt cx="1018458" cy="5477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458" cy="547755"/>
            </a:xfrm>
            <a:custGeom>
              <a:avLst/>
              <a:gdLst/>
              <a:ahLst/>
              <a:cxnLst/>
              <a:rect l="l" t="t" r="r" b="b"/>
              <a:pathLst>
                <a:path w="1018458" h="547755">
                  <a:moveTo>
                    <a:pt x="1018458" y="273878"/>
                  </a:moveTo>
                  <a:lnTo>
                    <a:pt x="612058" y="0"/>
                  </a:lnTo>
                  <a:lnTo>
                    <a:pt x="612058" y="203200"/>
                  </a:lnTo>
                  <a:lnTo>
                    <a:pt x="0" y="203200"/>
                  </a:lnTo>
                  <a:lnTo>
                    <a:pt x="0" y="344555"/>
                  </a:lnTo>
                  <a:lnTo>
                    <a:pt x="612058" y="344555"/>
                  </a:lnTo>
                  <a:lnTo>
                    <a:pt x="612058" y="547755"/>
                  </a:lnTo>
                  <a:lnTo>
                    <a:pt x="1018458" y="27387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65100"/>
              <a:ext cx="916858" cy="1794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05068" y="4763878"/>
            <a:ext cx="5230615" cy="4401820"/>
          </a:xfrm>
          <a:custGeom>
            <a:avLst/>
            <a:gdLst/>
            <a:ahLst/>
            <a:cxnLst/>
            <a:rect l="l" t="t" r="r" b="b"/>
            <a:pathLst>
              <a:path w="5230615" h="4401820">
                <a:moveTo>
                  <a:pt x="0" y="0"/>
                </a:moveTo>
                <a:lnTo>
                  <a:pt x="5230615" y="0"/>
                </a:lnTo>
                <a:lnTo>
                  <a:pt x="5230615" y="4401820"/>
                </a:lnTo>
                <a:lnTo>
                  <a:pt x="0" y="44018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281419" y="4763878"/>
            <a:ext cx="5578188" cy="4494422"/>
          </a:xfrm>
          <a:custGeom>
            <a:avLst/>
            <a:gdLst/>
            <a:ahLst/>
            <a:cxnLst/>
            <a:rect l="l" t="t" r="r" b="b"/>
            <a:pathLst>
              <a:path w="5578188" h="4494422">
                <a:moveTo>
                  <a:pt x="0" y="0"/>
                </a:moveTo>
                <a:lnTo>
                  <a:pt x="5578187" y="0"/>
                </a:lnTo>
                <a:lnTo>
                  <a:pt x="5578187" y="4494422"/>
                </a:lnTo>
                <a:lnTo>
                  <a:pt x="0" y="44944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21501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78376" y="2688014"/>
            <a:ext cx="11578998" cy="97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3416" lvl="1" indent="-381708" algn="l">
              <a:lnSpc>
                <a:spcPts val="3889"/>
              </a:lnSpc>
              <a:buFont typeface="Arial"/>
              <a:buChar char="•"/>
            </a:pPr>
            <a:r>
              <a:rPr lang="en-US" sz="3535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Filled empty rows with </a:t>
            </a:r>
            <a:r>
              <a:rPr lang="en-US" sz="3535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not_rated</a:t>
            </a:r>
            <a:r>
              <a:rPr lang="en-US" sz="3535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 or </a:t>
            </a:r>
            <a:r>
              <a:rPr lang="en-US" sz="3535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not_available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56211"/>
            <a:ext cx="8985864" cy="1542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6"/>
              </a:lnSpc>
            </a:pPr>
            <a:r>
              <a:rPr lang="en-US" sz="5986" b="1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CLEANING &amp; PREPARATION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5616" y="3866396"/>
            <a:ext cx="4124197" cy="83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5"/>
              </a:lnSpc>
            </a:pPr>
            <a:r>
              <a:rPr lang="en-US" sz="5822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BEFORE: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16866" y="3875921"/>
            <a:ext cx="4239868" cy="84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4"/>
              </a:lnSpc>
            </a:pPr>
            <a:r>
              <a:rPr lang="en-US" sz="5986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AFTER: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59452" y="-1469416"/>
            <a:ext cx="7343202" cy="73432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275695" y="3119855"/>
            <a:ext cx="14293352" cy="5958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6"/>
              </a:lnSpc>
            </a:pPr>
            <a:r>
              <a:rPr lang="en-US" sz="3647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Highlights:</a:t>
            </a:r>
          </a:p>
          <a:p>
            <a:pPr algn="l">
              <a:lnSpc>
                <a:spcPts val="3976"/>
              </a:lnSpc>
            </a:pPr>
            <a:endParaRPr lang="en-US" sz="3647" b="1">
              <a:solidFill>
                <a:srgbClr val="05183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787598" lvl="1" indent="-393799" algn="l">
              <a:lnSpc>
                <a:spcPts val="3976"/>
              </a:lnSpc>
              <a:buFont typeface="Arial"/>
              <a:buChar char="•"/>
            </a:pPr>
            <a:r>
              <a:rPr lang="en-US" sz="3647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Average IMDB Score: </a:t>
            </a:r>
            <a:r>
              <a:rPr lang="en-US" sz="3647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6.49</a:t>
            </a:r>
          </a:p>
          <a:p>
            <a:pPr marL="787598" lvl="1" indent="-393799" algn="l">
              <a:lnSpc>
                <a:spcPts val="3976"/>
              </a:lnSpc>
              <a:buFont typeface="Arial"/>
              <a:buChar char="•"/>
            </a:pPr>
            <a:r>
              <a:rPr lang="en-US" sz="3647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Duration Range:</a:t>
            </a:r>
            <a:r>
              <a:rPr lang="en-US" sz="3647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 1-2 hour (≈60%)</a:t>
            </a:r>
          </a:p>
          <a:p>
            <a:pPr marL="787598" lvl="1" indent="-393799" algn="l">
              <a:lnSpc>
                <a:spcPts val="3976"/>
              </a:lnSpc>
              <a:buFont typeface="Arial"/>
              <a:buChar char="•"/>
            </a:pPr>
            <a:r>
              <a:rPr lang="en-US" sz="3647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Most Active Years:</a:t>
            </a:r>
            <a:r>
              <a:rPr lang="en-US" sz="3647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 2015 and 2020</a:t>
            </a:r>
          </a:p>
          <a:p>
            <a:pPr marL="787598" lvl="1" indent="-393799" algn="l">
              <a:lnSpc>
                <a:spcPts val="3976"/>
              </a:lnSpc>
              <a:buFont typeface="Arial"/>
              <a:buChar char="•"/>
            </a:pPr>
            <a:r>
              <a:rPr lang="en-US" sz="3647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Dominant Genres:</a:t>
            </a:r>
            <a:r>
              <a:rPr lang="en-US" sz="3647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 Comedy, Drama</a:t>
            </a:r>
          </a:p>
          <a:p>
            <a:pPr marL="787598" lvl="1" indent="-393799" algn="l">
              <a:lnSpc>
                <a:spcPts val="3976"/>
              </a:lnSpc>
              <a:buFont typeface="Arial"/>
              <a:buChar char="•"/>
            </a:pPr>
            <a:r>
              <a:rPr lang="en-US" sz="3647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Ratings:</a:t>
            </a:r>
            <a:r>
              <a:rPr lang="en-US" sz="3647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 Mostly Not Rated and R rating</a:t>
            </a:r>
          </a:p>
          <a:p>
            <a:pPr algn="l">
              <a:lnSpc>
                <a:spcPts val="3976"/>
              </a:lnSpc>
            </a:pPr>
            <a:endParaRPr lang="en-US" sz="3647">
              <a:solidFill>
                <a:srgbClr val="0518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976"/>
              </a:lnSpc>
            </a:pPr>
            <a:r>
              <a:rPr lang="en-US" sz="3647" b="1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 Netflix has a vast library with diverse genres, focusing more on long length content and mature audiences.</a:t>
            </a:r>
          </a:p>
          <a:p>
            <a:pPr algn="l">
              <a:lnSpc>
                <a:spcPts val="3976"/>
              </a:lnSpc>
            </a:pPr>
            <a:endParaRPr lang="en-US" sz="3647" b="1">
              <a:solidFill>
                <a:srgbClr val="05183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66800" y="874369"/>
            <a:ext cx="12866694" cy="1995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 b="1" dirty="0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NETFLIX DASHBOARD OVERVIEW</a:t>
            </a:r>
          </a:p>
        </p:txBody>
      </p:sp>
      <p:sp>
        <p:nvSpPr>
          <p:cNvPr id="6" name="Freeform 6"/>
          <p:cNvSpPr/>
          <p:nvPr/>
        </p:nvSpPr>
        <p:spPr>
          <a:xfrm>
            <a:off x="-795512" y="8815101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-468339" y="-4626210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9">
            <a:extLst>
              <a:ext uri="{FF2B5EF4-FFF2-40B4-BE49-F238E27FC236}">
                <a16:creationId xmlns:a16="http://schemas.microsoft.com/office/drawing/2014/main" id="{29ED98CE-4D6B-EBFF-AB68-F5DB242A8FEA}"/>
              </a:ext>
            </a:extLst>
          </p:cNvPr>
          <p:cNvGrpSpPr/>
          <p:nvPr/>
        </p:nvGrpSpPr>
        <p:grpSpPr>
          <a:xfrm>
            <a:off x="12538714" y="2280202"/>
            <a:ext cx="3310154" cy="3004637"/>
            <a:chOff x="0" y="0"/>
            <a:chExt cx="812800" cy="812800"/>
          </a:xfrm>
        </p:grpSpPr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10C68255-8D73-6940-2D69-3061AE75403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7885" y="0"/>
                  </a:moveTo>
                  <a:lnTo>
                    <a:pt x="764915" y="0"/>
                  </a:lnTo>
                  <a:cubicBezTo>
                    <a:pt x="791361" y="0"/>
                    <a:pt x="812800" y="21439"/>
                    <a:pt x="812800" y="47885"/>
                  </a:cubicBezTo>
                  <a:lnTo>
                    <a:pt x="812800" y="764915"/>
                  </a:lnTo>
                  <a:cubicBezTo>
                    <a:pt x="812800" y="791361"/>
                    <a:pt x="791361" y="812800"/>
                    <a:pt x="764915" y="812800"/>
                  </a:cubicBezTo>
                  <a:lnTo>
                    <a:pt x="47885" y="812800"/>
                  </a:lnTo>
                  <a:cubicBezTo>
                    <a:pt x="21439" y="812800"/>
                    <a:pt x="0" y="791361"/>
                    <a:pt x="0" y="764915"/>
                  </a:cubicBezTo>
                  <a:lnTo>
                    <a:pt x="0" y="47885"/>
                  </a:lnTo>
                  <a:cubicBezTo>
                    <a:pt x="0" y="21439"/>
                    <a:pt x="21439" y="0"/>
                    <a:pt x="47885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59452" y="-1469416"/>
            <a:ext cx="7343202" cy="73432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275695" y="3119855"/>
            <a:ext cx="12364105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76"/>
              </a:lnSpc>
            </a:pPr>
            <a:r>
              <a:rPr lang="en-US" sz="3647" b="1" dirty="0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Highlights:</a:t>
            </a:r>
          </a:p>
          <a:p>
            <a:pPr algn="l">
              <a:lnSpc>
                <a:spcPts val="3976"/>
              </a:lnSpc>
            </a:pPr>
            <a:endParaRPr lang="en-US" sz="3647" b="1" dirty="0">
              <a:solidFill>
                <a:srgbClr val="05183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787598" lvl="1" indent="-393799" algn="l">
              <a:lnSpc>
                <a:spcPts val="3976"/>
              </a:lnSpc>
              <a:buFont typeface="Arial"/>
              <a:buChar char="•"/>
            </a:pPr>
            <a:r>
              <a:rPr lang="en-US" sz="3647" b="1" dirty="0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Genres:</a:t>
            </a:r>
            <a:r>
              <a:rPr lang="en-US" sz="3647" dirty="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 Drama, Comedy, Suspense</a:t>
            </a:r>
          </a:p>
          <a:p>
            <a:pPr marL="787598" lvl="1" indent="-393799" algn="l">
              <a:lnSpc>
                <a:spcPts val="3976"/>
              </a:lnSpc>
              <a:buFont typeface="Arial"/>
              <a:buChar char="•"/>
            </a:pPr>
            <a:r>
              <a:rPr lang="en-US" sz="3647" b="1" dirty="0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Yearly Releases:</a:t>
            </a:r>
            <a:r>
              <a:rPr lang="en-US" sz="3647" dirty="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 Increasing trend</a:t>
            </a:r>
          </a:p>
          <a:p>
            <a:pPr marL="787598" lvl="1" indent="-393799" algn="l">
              <a:lnSpc>
                <a:spcPts val="3976"/>
              </a:lnSpc>
              <a:buFont typeface="Arial"/>
              <a:buChar char="•"/>
            </a:pPr>
            <a:r>
              <a:rPr lang="en-US" sz="3647" b="1" dirty="0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Rating Type:</a:t>
            </a:r>
            <a:r>
              <a:rPr lang="en-US" sz="3647" dirty="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 Wide distribution — from PG to 18+</a:t>
            </a:r>
          </a:p>
          <a:p>
            <a:pPr algn="l">
              <a:lnSpc>
                <a:spcPts val="3976"/>
              </a:lnSpc>
            </a:pPr>
            <a:endParaRPr lang="en-US" sz="3647" dirty="0">
              <a:solidFill>
                <a:srgbClr val="0518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976"/>
              </a:lnSpc>
            </a:pPr>
            <a:r>
              <a:rPr lang="en-US" sz="3647" b="1" dirty="0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 Amazon Prime hosts a balanced mix with strong drama content and broader rating diversity.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51312"/>
            <a:ext cx="13377013" cy="1995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 b="1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AMAZON PRIME DASHBOARD OVERVIEW</a:t>
            </a:r>
          </a:p>
        </p:txBody>
      </p:sp>
      <p:sp>
        <p:nvSpPr>
          <p:cNvPr id="6" name="Freeform 6"/>
          <p:cNvSpPr/>
          <p:nvPr/>
        </p:nvSpPr>
        <p:spPr>
          <a:xfrm>
            <a:off x="-795512" y="8815101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-244253" y="-4317925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11">
            <a:extLst>
              <a:ext uri="{FF2B5EF4-FFF2-40B4-BE49-F238E27FC236}">
                <a16:creationId xmlns:a16="http://schemas.microsoft.com/office/drawing/2014/main" id="{6CE63AE9-EF6D-FA38-46AE-444C6B52ABB3}"/>
              </a:ext>
            </a:extLst>
          </p:cNvPr>
          <p:cNvGrpSpPr/>
          <p:nvPr/>
        </p:nvGrpSpPr>
        <p:grpSpPr>
          <a:xfrm>
            <a:off x="13868400" y="3829149"/>
            <a:ext cx="3718594" cy="3718594"/>
            <a:chOff x="0" y="0"/>
            <a:chExt cx="812800" cy="812800"/>
          </a:xfrm>
        </p:grpSpPr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CCE0AB67-A693-8673-A2BB-D3EB83F7CEB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7885" y="0"/>
                  </a:moveTo>
                  <a:lnTo>
                    <a:pt x="764915" y="0"/>
                  </a:lnTo>
                  <a:cubicBezTo>
                    <a:pt x="791361" y="0"/>
                    <a:pt x="812800" y="21439"/>
                    <a:pt x="812800" y="47885"/>
                  </a:cubicBezTo>
                  <a:lnTo>
                    <a:pt x="812800" y="764915"/>
                  </a:lnTo>
                  <a:cubicBezTo>
                    <a:pt x="812800" y="791361"/>
                    <a:pt x="791361" y="812800"/>
                    <a:pt x="764915" y="812800"/>
                  </a:cubicBezTo>
                  <a:lnTo>
                    <a:pt x="47885" y="812800"/>
                  </a:lnTo>
                  <a:cubicBezTo>
                    <a:pt x="21439" y="812800"/>
                    <a:pt x="0" y="791361"/>
                    <a:pt x="0" y="764915"/>
                  </a:cubicBezTo>
                  <a:lnTo>
                    <a:pt x="0" y="47885"/>
                  </a:lnTo>
                  <a:cubicBezTo>
                    <a:pt x="0" y="21439"/>
                    <a:pt x="21439" y="0"/>
                    <a:pt x="47885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59452" y="-1469416"/>
            <a:ext cx="7343202" cy="73432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275695" y="3119855"/>
            <a:ext cx="12619699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76"/>
              </a:lnSpc>
            </a:pPr>
            <a:r>
              <a:rPr lang="en-US" sz="3647" b="1" dirty="0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Highlights:</a:t>
            </a:r>
          </a:p>
          <a:p>
            <a:pPr algn="l">
              <a:lnSpc>
                <a:spcPts val="3976"/>
              </a:lnSpc>
            </a:pPr>
            <a:endParaRPr lang="en-US" sz="3647" b="1" dirty="0">
              <a:solidFill>
                <a:srgbClr val="05183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787598" lvl="1" indent="-393799" algn="l">
              <a:lnSpc>
                <a:spcPts val="3976"/>
              </a:lnSpc>
              <a:buFont typeface="Arial"/>
              <a:buChar char="•"/>
            </a:pPr>
            <a:r>
              <a:rPr lang="en-US" sz="3647" b="1" dirty="0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Average Minute Duration: </a:t>
            </a:r>
            <a:r>
              <a:rPr lang="en-US" sz="3647" dirty="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71 minutes</a:t>
            </a:r>
          </a:p>
          <a:p>
            <a:pPr marL="787598" lvl="1" indent="-393799" algn="l">
              <a:lnSpc>
                <a:spcPts val="3976"/>
              </a:lnSpc>
              <a:buFont typeface="Arial"/>
              <a:buChar char="•"/>
            </a:pPr>
            <a:r>
              <a:rPr lang="en-US" sz="3647" b="1" dirty="0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Genre Focus: </a:t>
            </a:r>
            <a:r>
              <a:rPr lang="en-US" sz="3647" dirty="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Family-friendly and Animation</a:t>
            </a:r>
          </a:p>
          <a:p>
            <a:pPr marL="787598" lvl="1" indent="-393799" algn="l">
              <a:lnSpc>
                <a:spcPts val="3976"/>
              </a:lnSpc>
              <a:buFont typeface="Arial"/>
              <a:buChar char="•"/>
            </a:pPr>
            <a:r>
              <a:rPr lang="en-US" sz="3647" b="1" dirty="0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Ratings: </a:t>
            </a:r>
            <a:r>
              <a:rPr lang="en-US" sz="3647" dirty="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TV-PG and TV-Y7 (children-oriented)</a:t>
            </a:r>
          </a:p>
          <a:p>
            <a:pPr marL="787598" lvl="1" indent="-393799" algn="l">
              <a:lnSpc>
                <a:spcPts val="3976"/>
              </a:lnSpc>
              <a:buFont typeface="Arial"/>
              <a:buChar char="•"/>
            </a:pPr>
            <a:r>
              <a:rPr lang="en-US" sz="3647" b="1" dirty="0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Years: </a:t>
            </a:r>
            <a:r>
              <a:rPr lang="en-US" sz="3647" dirty="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Major releases during 2019–2021</a:t>
            </a:r>
          </a:p>
          <a:p>
            <a:pPr marL="787598" lvl="1" indent="-393799" algn="l">
              <a:lnSpc>
                <a:spcPts val="3976"/>
              </a:lnSpc>
              <a:buFont typeface="Arial"/>
              <a:buChar char="•"/>
            </a:pPr>
            <a:r>
              <a:rPr lang="en-US" sz="3647" b="1" dirty="0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Country Release: </a:t>
            </a:r>
            <a:r>
              <a:rPr lang="en-US" sz="3647" dirty="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Most from USA</a:t>
            </a:r>
          </a:p>
          <a:p>
            <a:pPr algn="l">
              <a:lnSpc>
                <a:spcPts val="3976"/>
              </a:lnSpc>
            </a:pPr>
            <a:endParaRPr lang="en-US" sz="3647" dirty="0">
              <a:solidFill>
                <a:srgbClr val="0518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976"/>
              </a:lnSpc>
            </a:pPr>
            <a:r>
              <a:rPr lang="en-US" sz="3647" b="1" dirty="0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 Disney+ Hotstar emphasizes family and kid-friendly content with moderate show durations.</a:t>
            </a:r>
          </a:p>
          <a:p>
            <a:pPr algn="l">
              <a:lnSpc>
                <a:spcPts val="3976"/>
              </a:lnSpc>
            </a:pPr>
            <a:endParaRPr lang="en-US" sz="3647" b="1" dirty="0">
              <a:solidFill>
                <a:srgbClr val="05183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751312"/>
            <a:ext cx="13754100" cy="197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 b="1" dirty="0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DISNEY+HOTSTAR DASHBOARD OVERVIEW</a:t>
            </a:r>
          </a:p>
        </p:txBody>
      </p:sp>
      <p:sp>
        <p:nvSpPr>
          <p:cNvPr id="6" name="Freeform 6"/>
          <p:cNvSpPr/>
          <p:nvPr/>
        </p:nvSpPr>
        <p:spPr>
          <a:xfrm>
            <a:off x="-795512" y="8815101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-468339" y="-4626210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7D156186-B33D-4B78-8E19-3DE68340CDA9}"/>
              </a:ext>
            </a:extLst>
          </p:cNvPr>
          <p:cNvGrpSpPr/>
          <p:nvPr/>
        </p:nvGrpSpPr>
        <p:grpSpPr>
          <a:xfrm>
            <a:off x="13914511" y="3625850"/>
            <a:ext cx="3718594" cy="3718594"/>
            <a:chOff x="0" y="0"/>
            <a:chExt cx="812800" cy="812800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C29D02B8-A182-DD26-00CD-1A4B8C42061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7885" y="0"/>
                  </a:moveTo>
                  <a:lnTo>
                    <a:pt x="764915" y="0"/>
                  </a:lnTo>
                  <a:cubicBezTo>
                    <a:pt x="791361" y="0"/>
                    <a:pt x="812800" y="21439"/>
                    <a:pt x="812800" y="47885"/>
                  </a:cubicBezTo>
                  <a:lnTo>
                    <a:pt x="812800" y="764915"/>
                  </a:lnTo>
                  <a:cubicBezTo>
                    <a:pt x="812800" y="791361"/>
                    <a:pt x="791361" y="812800"/>
                    <a:pt x="764915" y="812800"/>
                  </a:cubicBezTo>
                  <a:lnTo>
                    <a:pt x="47885" y="812800"/>
                  </a:lnTo>
                  <a:cubicBezTo>
                    <a:pt x="21439" y="812800"/>
                    <a:pt x="0" y="791361"/>
                    <a:pt x="0" y="764915"/>
                  </a:cubicBezTo>
                  <a:lnTo>
                    <a:pt x="0" y="47885"/>
                  </a:lnTo>
                  <a:cubicBezTo>
                    <a:pt x="0" y="21439"/>
                    <a:pt x="21439" y="0"/>
                    <a:pt x="47885" y="0"/>
                  </a:cubicBezTo>
                  <a:close/>
                </a:path>
              </a:pathLst>
            </a:custGeom>
            <a:blipFill>
              <a:blip r:embed="rId6"/>
              <a:stretch>
                <a:fillRect l="-72824" t="-18091" r="-70428" b="-18737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52285" y="-1655401"/>
            <a:ext cx="7343202" cy="73432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671601" y="5143500"/>
            <a:ext cx="7343202" cy="734320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4978346" y="3470876"/>
            <a:ext cx="8331309" cy="362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52"/>
              </a:lnSpc>
            </a:pPr>
            <a:r>
              <a:rPr lang="en-US" sz="13952" b="1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</a:t>
            </a:r>
          </a:p>
          <a:p>
            <a:pPr algn="ctr">
              <a:lnSpc>
                <a:spcPts val="13952"/>
              </a:lnSpc>
              <a:spcBef>
                <a:spcPct val="0"/>
              </a:spcBef>
            </a:pPr>
            <a:r>
              <a:rPr lang="en-US" sz="13952" b="1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you </a:t>
            </a:r>
          </a:p>
        </p:txBody>
      </p:sp>
      <p:sp>
        <p:nvSpPr>
          <p:cNvPr id="7" name="Freeform 7"/>
          <p:cNvSpPr/>
          <p:nvPr/>
        </p:nvSpPr>
        <p:spPr>
          <a:xfrm>
            <a:off x="-795512" y="8581650"/>
            <a:ext cx="19879023" cy="2087751"/>
          </a:xfrm>
          <a:custGeom>
            <a:avLst/>
            <a:gdLst/>
            <a:ahLst/>
            <a:cxnLst/>
            <a:rect l="l" t="t" r="r" b="b"/>
            <a:pathLst>
              <a:path w="19879023" h="2087751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V="1">
            <a:off x="-1432830" y="-4332318"/>
            <a:ext cx="20099392" cy="9252420"/>
          </a:xfrm>
          <a:custGeom>
            <a:avLst/>
            <a:gdLst/>
            <a:ahLst/>
            <a:cxnLst/>
            <a:rect l="l" t="t" r="r" b="b"/>
            <a:pathLst>
              <a:path w="20099392" h="9252420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338</Words>
  <Application>Microsoft Office PowerPoint</Application>
  <PresentationFormat>Custom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Montserrat Ultra-Bold</vt:lpstr>
      <vt:lpstr>Arial</vt:lpstr>
      <vt:lpstr>Montserrat Bold</vt:lpstr>
      <vt:lpstr>Montserrat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Illustrative Group Project Presentation</dc:title>
  <cp:lastModifiedBy>Jaafar Bin Farooq</cp:lastModifiedBy>
  <cp:revision>3</cp:revision>
  <dcterms:created xsi:type="dcterms:W3CDTF">2006-08-16T00:00:00Z</dcterms:created>
  <dcterms:modified xsi:type="dcterms:W3CDTF">2025-11-01T07:19:04Z</dcterms:modified>
  <dc:identifier>DAG3Yw4UV84</dc:identifier>
</cp:coreProperties>
</file>